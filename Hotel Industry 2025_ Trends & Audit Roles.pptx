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MiSans" charset="-122" pitchFamily="34"/>
      <p:regular r:id="rId20"/>
    </p:embeddedFont>
    <p:embeddedFont>
      <p:font typeface="Noto Sans SC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43-d3ce41os8jdo4os5dc5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0717" y="1788036"/>
            <a:ext cx="5665076" cy="14370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Hotel Industry 2025: Trends &amp; Audit Roles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94005" y="3573780"/>
            <a:ext cx="2643505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Kimi AI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94005" y="4015740"/>
            <a:ext cx="379476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45-d3ce428s8jdo4os5dc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3625" y="5236780"/>
            <a:ext cx="2404248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98F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&amp; Trends 2025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802152" y="5236780"/>
            <a:ext cx="2615040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98F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Past, Present, Future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61471" y="5236780"/>
            <a:ext cx="261504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98F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Our Role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28-15:21:45-d3ce428s8jdo4os5dc9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" y="0"/>
            <a:ext cx="12206605" cy="687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0580" y="4344035"/>
            <a:ext cx="640270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&amp; Trends 2025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9816" y="1311662"/>
            <a:ext cx="3271784" cy="30706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9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45-d3ce428s8jdo4os5dc8g.jpg">    </p:cNvPr>
          <p:cNvPicPr>
            <a:picLocks noChangeAspect="1"/>
          </p:cNvPicPr>
          <p:nvPr/>
        </p:nvPicPr>
        <p:blipFill>
          <a:blip r:embed="rId1"/>
          <a:srcRect l="799" r="1289" t="0" b="1905"/>
          <a:stretch/>
        </p:blipFill>
        <p:spPr>
          <a:xfrm>
            <a:off x="-156210" y="-138430"/>
            <a:ext cx="12347575" cy="6997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298700"/>
            <a:ext cx="436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Green &amp; Wellness Tourism Boom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3644900"/>
            <a:ext cx="436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Tren keberlanjutan dan kesehatan mendominasi permintaan pasar, membuka peluang besar bagi hotel yang dapat beradaptasi.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927600" y="1930400"/>
            <a:ext cx="7010400" cy="1524000"/>
          </a:xfrm>
          <a:custGeom>
            <a:avLst/>
            <a:gdLst/>
            <a:ahLst/>
            <a:cxnLst/>
            <a:rect l="l" t="t" r="r" b="b"/>
            <a:pathLst>
              <a:path w="7010400" h="1524000">
                <a:moveTo>
                  <a:pt x="101605" y="0"/>
                </a:moveTo>
                <a:lnTo>
                  <a:pt x="6908795" y="0"/>
                </a:lnTo>
                <a:cubicBezTo>
                  <a:pt x="6964910" y="0"/>
                  <a:pt x="7010400" y="45490"/>
                  <a:pt x="7010400" y="101605"/>
                </a:cubicBezTo>
                <a:lnTo>
                  <a:pt x="7010400" y="1422395"/>
                </a:lnTo>
                <a:cubicBezTo>
                  <a:pt x="7010400" y="1478510"/>
                  <a:pt x="6964910" y="1524000"/>
                  <a:pt x="69087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130800" y="2133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7" name="Shape 4"/>
          <p:cNvSpPr/>
          <p:nvPr/>
        </p:nvSpPr>
        <p:spPr>
          <a:xfrm>
            <a:off x="5283200" y="228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0571" y="3989"/>
                </a:moveTo>
                <a:cubicBezTo>
                  <a:pt x="284381" y="357"/>
                  <a:pt x="289917" y="-952"/>
                  <a:pt x="295037" y="714"/>
                </a:cubicBezTo>
                <a:cubicBezTo>
                  <a:pt x="300871" y="2679"/>
                  <a:pt x="304800" y="8156"/>
                  <a:pt x="304800" y="14288"/>
                </a:cubicBezTo>
                <a:lnTo>
                  <a:pt x="304800" y="125551"/>
                </a:lnTo>
                <a:cubicBezTo>
                  <a:pt x="304800" y="203656"/>
                  <a:pt x="240447" y="266700"/>
                  <a:pt x="162639" y="266700"/>
                </a:cubicBezTo>
                <a:cubicBezTo>
                  <a:pt x="116800" y="266700"/>
                  <a:pt x="77272" y="237232"/>
                  <a:pt x="62925" y="196036"/>
                </a:cubicBezTo>
                <a:cubicBezTo>
                  <a:pt x="41850" y="214372"/>
                  <a:pt x="28575" y="241340"/>
                  <a:pt x="28575" y="271463"/>
                </a:cubicBezTo>
                <a:cubicBezTo>
                  <a:pt x="28575" y="279380"/>
                  <a:pt x="22205" y="285750"/>
                  <a:pt x="14287" y="285750"/>
                </a:cubicBezTo>
                <a:cubicBezTo>
                  <a:pt x="6370" y="285750"/>
                  <a:pt x="0" y="279380"/>
                  <a:pt x="0" y="271463"/>
                </a:cubicBezTo>
                <a:cubicBezTo>
                  <a:pt x="0" y="226874"/>
                  <a:pt x="22741" y="187583"/>
                  <a:pt x="57210" y="164485"/>
                </a:cubicBezTo>
                <a:cubicBezTo>
                  <a:pt x="78224" y="150435"/>
                  <a:pt x="103287" y="142875"/>
                  <a:pt x="128588" y="142875"/>
                </a:cubicBezTo>
                <a:lnTo>
                  <a:pt x="176212" y="142875"/>
                </a:lnTo>
                <a:cubicBezTo>
                  <a:pt x="184130" y="142875"/>
                  <a:pt x="190500" y="136505"/>
                  <a:pt x="190500" y="128588"/>
                </a:cubicBezTo>
                <a:cubicBezTo>
                  <a:pt x="190500" y="120670"/>
                  <a:pt x="184130" y="114300"/>
                  <a:pt x="176212" y="114300"/>
                </a:cubicBezTo>
                <a:lnTo>
                  <a:pt x="128588" y="114300"/>
                </a:lnTo>
                <a:cubicBezTo>
                  <a:pt x="104954" y="114300"/>
                  <a:pt x="82570" y="119539"/>
                  <a:pt x="62508" y="128885"/>
                </a:cubicBezTo>
                <a:cubicBezTo>
                  <a:pt x="76379" y="87213"/>
                  <a:pt x="115610" y="57150"/>
                  <a:pt x="161925" y="57150"/>
                </a:cubicBezTo>
                <a:cubicBezTo>
                  <a:pt x="201454" y="57150"/>
                  <a:pt x="230862" y="43994"/>
                  <a:pt x="250448" y="30956"/>
                </a:cubicBezTo>
                <a:cubicBezTo>
                  <a:pt x="261878" y="23336"/>
                  <a:pt x="271582" y="14228"/>
                  <a:pt x="280630" y="39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2133600"/>
            <a:ext cx="601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7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Eco-Certified Properties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0" y="2489200"/>
            <a:ext cx="579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Hotel "hijau" dengan sertifikasi LEED atau Green Globe menarik segmen pasar berpenghasilan tinggi yang sadar lingkungan, meningkatkan nilai properti.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927600" y="3657600"/>
            <a:ext cx="7010400" cy="1270000"/>
          </a:xfrm>
          <a:custGeom>
            <a:avLst/>
            <a:gdLst/>
            <a:ahLst/>
            <a:cxnLst/>
            <a:rect l="l" t="t" r="r" b="b"/>
            <a:pathLst>
              <a:path w="7010400" h="1270000">
                <a:moveTo>
                  <a:pt x="101600" y="0"/>
                </a:moveTo>
                <a:lnTo>
                  <a:pt x="6908800" y="0"/>
                </a:lnTo>
                <a:cubicBezTo>
                  <a:pt x="6964875" y="0"/>
                  <a:pt x="7010400" y="45525"/>
                  <a:pt x="7010400" y="101600"/>
                </a:cubicBezTo>
                <a:lnTo>
                  <a:pt x="7010400" y="1168400"/>
                </a:lnTo>
                <a:cubicBezTo>
                  <a:pt x="7010400" y="1224475"/>
                  <a:pt x="6964875" y="1270000"/>
                  <a:pt x="690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1E9B3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30800" y="3860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E9B3"/>
          </a:solidFill>
          <a:ln/>
        </p:spPr>
      </p:sp>
      <p:sp>
        <p:nvSpPr>
          <p:cNvPr id="12" name="Shape 9"/>
          <p:cNvSpPr/>
          <p:nvPr/>
        </p:nvSpPr>
        <p:spPr>
          <a:xfrm>
            <a:off x="5264150" y="4013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01025" y="135434"/>
                </a:moveTo>
                <a:cubicBezTo>
                  <a:pt x="121444" y="146566"/>
                  <a:pt x="139422" y="161687"/>
                  <a:pt x="153888" y="179784"/>
                </a:cubicBezTo>
                <a:cubicBezTo>
                  <a:pt x="160496" y="188059"/>
                  <a:pt x="166390" y="196989"/>
                  <a:pt x="171390" y="206454"/>
                </a:cubicBezTo>
                <a:cubicBezTo>
                  <a:pt x="176451" y="196989"/>
                  <a:pt x="182285" y="188119"/>
                  <a:pt x="188893" y="179784"/>
                </a:cubicBezTo>
                <a:cubicBezTo>
                  <a:pt x="203359" y="161627"/>
                  <a:pt x="221337" y="146506"/>
                  <a:pt x="241756" y="135434"/>
                </a:cubicBezTo>
                <a:cubicBezTo>
                  <a:pt x="266581" y="121920"/>
                  <a:pt x="294977" y="114300"/>
                  <a:pt x="324922" y="114300"/>
                </a:cubicBezTo>
                <a:lnTo>
                  <a:pt x="330815" y="114300"/>
                </a:lnTo>
                <a:cubicBezTo>
                  <a:pt x="337423" y="114300"/>
                  <a:pt x="342781" y="119658"/>
                  <a:pt x="342781" y="126266"/>
                </a:cubicBezTo>
                <a:cubicBezTo>
                  <a:pt x="342781" y="214372"/>
                  <a:pt x="271403" y="285750"/>
                  <a:pt x="183297" y="285750"/>
                </a:cubicBezTo>
                <a:lnTo>
                  <a:pt x="159365" y="285750"/>
                </a:lnTo>
                <a:cubicBezTo>
                  <a:pt x="71378" y="285750"/>
                  <a:pt x="0" y="214372"/>
                  <a:pt x="0" y="126266"/>
                </a:cubicBezTo>
                <a:cubicBezTo>
                  <a:pt x="0" y="119658"/>
                  <a:pt x="5358" y="114300"/>
                  <a:pt x="11966" y="114300"/>
                </a:cubicBezTo>
                <a:lnTo>
                  <a:pt x="17859" y="114300"/>
                </a:lnTo>
                <a:cubicBezTo>
                  <a:pt x="47863" y="114300"/>
                  <a:pt x="76260" y="121920"/>
                  <a:pt x="101025" y="135434"/>
                </a:cubicBezTo>
                <a:close/>
                <a:moveTo>
                  <a:pt x="180915" y="22622"/>
                </a:moveTo>
                <a:cubicBezTo>
                  <a:pt x="190976" y="32087"/>
                  <a:pt x="217468" y="60365"/>
                  <a:pt x="233898" y="107335"/>
                </a:cubicBezTo>
                <a:cubicBezTo>
                  <a:pt x="210026" y="119360"/>
                  <a:pt x="188774" y="136029"/>
                  <a:pt x="171450" y="156210"/>
                </a:cubicBezTo>
                <a:cubicBezTo>
                  <a:pt x="154067" y="136029"/>
                  <a:pt x="132874" y="119420"/>
                  <a:pt x="109002" y="107335"/>
                </a:cubicBezTo>
                <a:cubicBezTo>
                  <a:pt x="125432" y="60365"/>
                  <a:pt x="151983" y="32087"/>
                  <a:pt x="161985" y="22622"/>
                </a:cubicBezTo>
                <a:cubicBezTo>
                  <a:pt x="164544" y="20181"/>
                  <a:pt x="167938" y="19050"/>
                  <a:pt x="171450" y="19050"/>
                </a:cubicBezTo>
                <a:cubicBezTo>
                  <a:pt x="174962" y="19050"/>
                  <a:pt x="178356" y="20241"/>
                  <a:pt x="180915" y="226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3860800"/>
            <a:ext cx="601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E9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Wellness Tourism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4216400"/>
            <a:ext cx="579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Permintaan untuk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highlight>
                  <a:srgbClr val="FFD7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pengalaman kesehatan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(spa, meditasi, makanan sehat) tumbuh pesan, menciptakan peluang premium.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45-d3ce428s8jdo4os5dc8g.jpg">    </p:cNvPr>
          <p:cNvPicPr>
            <a:picLocks noChangeAspect="1"/>
          </p:cNvPicPr>
          <p:nvPr/>
        </p:nvPicPr>
        <p:blipFill>
          <a:blip r:embed="rId1"/>
          <a:srcRect l="799" r="1289" t="0" b="1905"/>
          <a:stretch/>
        </p:blipFill>
        <p:spPr>
          <a:xfrm>
            <a:off x="-156210" y="-138430"/>
            <a:ext cx="12347575" cy="6997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Nomads &amp; Social Media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52400" y="863600"/>
            <a:ext cx="1188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Mengubah Permintaan Pasar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1473200"/>
            <a:ext cx="4546600" cy="5130800"/>
          </a:xfrm>
          <a:custGeom>
            <a:avLst/>
            <a:gdLst/>
            <a:ahLst/>
            <a:cxnLst/>
            <a:rect l="l" t="t" r="r" b="b"/>
            <a:pathLst>
              <a:path w="4546600" h="5130800">
                <a:moveTo>
                  <a:pt x="101617" y="0"/>
                </a:moveTo>
                <a:lnTo>
                  <a:pt x="4444983" y="0"/>
                </a:lnTo>
                <a:cubicBezTo>
                  <a:pt x="4501105" y="0"/>
                  <a:pt x="4546600" y="45495"/>
                  <a:pt x="4546600" y="101617"/>
                </a:cubicBezTo>
                <a:lnTo>
                  <a:pt x="4546600" y="5029183"/>
                </a:lnTo>
                <a:cubicBezTo>
                  <a:pt x="4546600" y="5085305"/>
                  <a:pt x="4501105" y="5130800"/>
                  <a:pt x="4444983" y="5130800"/>
                </a:cubicBezTo>
                <a:lnTo>
                  <a:pt x="101617" y="5130800"/>
                </a:lnTo>
                <a:cubicBezTo>
                  <a:pt x="45495" y="5130800"/>
                  <a:pt x="0" y="5085305"/>
                  <a:pt x="0" y="5029183"/>
                </a:cubicBezTo>
                <a:lnTo>
                  <a:pt x="0" y="101617"/>
                </a:lnTo>
                <a:cubicBezTo>
                  <a:pt x="0" y="45533"/>
                  <a:pt x="45533" y="0"/>
                  <a:pt x="101617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244064" y="2997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7" name="Text 4"/>
          <p:cNvSpPr/>
          <p:nvPr/>
        </p:nvSpPr>
        <p:spPr>
          <a:xfrm>
            <a:off x="330200" y="3606800"/>
            <a:ext cx="439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Nomads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064000"/>
            <a:ext cx="4140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Permintaan tinggi untuk paket </a:t>
            </a:r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long-stay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co-working spaces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dan internet cepat. Hotel harus beradaptasi untuk menarik segmen yang terus tumbuh ini.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08827" y="1473200"/>
            <a:ext cx="6934200" cy="2463800"/>
          </a:xfrm>
          <a:custGeom>
            <a:avLst/>
            <a:gdLst/>
            <a:ahLst/>
            <a:cxnLst/>
            <a:rect l="l" t="t" r="r" b="b"/>
            <a:pathLst>
              <a:path w="6934200" h="2463800">
                <a:moveTo>
                  <a:pt x="101607" y="0"/>
                </a:moveTo>
                <a:lnTo>
                  <a:pt x="6832593" y="0"/>
                </a:lnTo>
                <a:cubicBezTo>
                  <a:pt x="6888709" y="0"/>
                  <a:pt x="6934200" y="45491"/>
                  <a:pt x="6934200" y="101607"/>
                </a:cubicBezTo>
                <a:lnTo>
                  <a:pt x="6934200" y="2362193"/>
                </a:lnTo>
                <a:cubicBezTo>
                  <a:pt x="6934200" y="2418309"/>
                  <a:pt x="6888709" y="2463800"/>
                  <a:pt x="6832593" y="2463800"/>
                </a:cubicBezTo>
                <a:lnTo>
                  <a:pt x="101607" y="2463800"/>
                </a:lnTo>
                <a:cubicBezTo>
                  <a:pt x="45491" y="2463800"/>
                  <a:pt x="0" y="2418309"/>
                  <a:pt x="0" y="23621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33C4FF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269177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2900" y="171450"/>
                </a:moveTo>
                <a:cubicBezTo>
                  <a:pt x="390227" y="171450"/>
                  <a:pt x="428625" y="133052"/>
                  <a:pt x="428625" y="85725"/>
                </a:cubicBezTo>
                <a:cubicBezTo>
                  <a:pt x="428625" y="38398"/>
                  <a:pt x="390227" y="0"/>
                  <a:pt x="342900" y="0"/>
                </a:cubicBezTo>
                <a:cubicBezTo>
                  <a:pt x="295573" y="0"/>
                  <a:pt x="257175" y="38398"/>
                  <a:pt x="257175" y="85725"/>
                </a:cubicBezTo>
                <a:cubicBezTo>
                  <a:pt x="257175" y="90547"/>
                  <a:pt x="257621" y="95369"/>
                  <a:pt x="258336" y="100013"/>
                </a:cubicBezTo>
                <a:lnTo>
                  <a:pt x="142518" y="164396"/>
                </a:lnTo>
                <a:cubicBezTo>
                  <a:pt x="127427" y="151001"/>
                  <a:pt x="107513" y="142875"/>
                  <a:pt x="85725" y="142875"/>
                </a:cubicBezTo>
                <a:cubicBezTo>
                  <a:pt x="38398" y="142875"/>
                  <a:pt x="0" y="181273"/>
                  <a:pt x="0" y="228600"/>
                </a:cubicBezTo>
                <a:cubicBezTo>
                  <a:pt x="0" y="275927"/>
                  <a:pt x="38398" y="314325"/>
                  <a:pt x="85725" y="314325"/>
                </a:cubicBezTo>
                <a:cubicBezTo>
                  <a:pt x="107513" y="314325"/>
                  <a:pt x="127337" y="306199"/>
                  <a:pt x="142518" y="292804"/>
                </a:cubicBezTo>
                <a:lnTo>
                  <a:pt x="258336" y="357188"/>
                </a:lnTo>
                <a:cubicBezTo>
                  <a:pt x="257532" y="361831"/>
                  <a:pt x="257175" y="366564"/>
                  <a:pt x="257175" y="371475"/>
                </a:cubicBezTo>
                <a:cubicBezTo>
                  <a:pt x="257175" y="418802"/>
                  <a:pt x="295573" y="457200"/>
                  <a:pt x="342900" y="457200"/>
                </a:cubicBezTo>
                <a:cubicBezTo>
                  <a:pt x="390227" y="457200"/>
                  <a:pt x="428625" y="418802"/>
                  <a:pt x="428625" y="371475"/>
                </a:cubicBezTo>
                <a:cubicBezTo>
                  <a:pt x="428625" y="324148"/>
                  <a:pt x="390227" y="285750"/>
                  <a:pt x="342900" y="285750"/>
                </a:cubicBezTo>
                <a:cubicBezTo>
                  <a:pt x="321112" y="285750"/>
                  <a:pt x="301288" y="293876"/>
                  <a:pt x="286107" y="307271"/>
                </a:cubicBezTo>
                <a:lnTo>
                  <a:pt x="170289" y="242888"/>
                </a:lnTo>
                <a:cubicBezTo>
                  <a:pt x="171093" y="238244"/>
                  <a:pt x="171450" y="233511"/>
                  <a:pt x="171450" y="228600"/>
                </a:cubicBezTo>
                <a:cubicBezTo>
                  <a:pt x="171450" y="223689"/>
                  <a:pt x="171004" y="218956"/>
                  <a:pt x="170289" y="214313"/>
                </a:cubicBezTo>
                <a:lnTo>
                  <a:pt x="286107" y="149929"/>
                </a:lnTo>
                <a:cubicBezTo>
                  <a:pt x="301198" y="163324"/>
                  <a:pt x="321112" y="171450"/>
                  <a:pt x="342900" y="171450"/>
                </a:cubicBezTo>
                <a:close/>
              </a:path>
            </a:pathLst>
          </a:custGeom>
          <a:solidFill>
            <a:srgbClr val="33C4FF"/>
          </a:solidFill>
          <a:ln/>
        </p:spPr>
      </p:sp>
      <p:sp>
        <p:nvSpPr>
          <p:cNvPr id="11" name="Text 8"/>
          <p:cNvSpPr/>
          <p:nvPr/>
        </p:nvSpPr>
        <p:spPr>
          <a:xfrm>
            <a:off x="5986727" y="2273300"/>
            <a:ext cx="598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C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Pengaruh Media Sosial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86727" y="2628900"/>
            <a:ext cx="5753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 seperti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highlight>
                  <a:srgbClr val="FFD7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Xiaohongshu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sangat memengaruhi keputusan wisatawan. Pengelolaan reputasi online menjadi krusial.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08827" y="4140200"/>
            <a:ext cx="6934200" cy="2463800"/>
          </a:xfrm>
          <a:custGeom>
            <a:avLst/>
            <a:gdLst/>
            <a:ahLst/>
            <a:cxnLst/>
            <a:rect l="l" t="t" r="r" b="b"/>
            <a:pathLst>
              <a:path w="6934200" h="2463800">
                <a:moveTo>
                  <a:pt x="101607" y="0"/>
                </a:moveTo>
                <a:lnTo>
                  <a:pt x="6832593" y="0"/>
                </a:lnTo>
                <a:cubicBezTo>
                  <a:pt x="6888709" y="0"/>
                  <a:pt x="6934200" y="45491"/>
                  <a:pt x="6934200" y="101607"/>
                </a:cubicBezTo>
                <a:lnTo>
                  <a:pt x="6934200" y="2362193"/>
                </a:lnTo>
                <a:cubicBezTo>
                  <a:pt x="6934200" y="2418309"/>
                  <a:pt x="6888709" y="2463800"/>
                  <a:pt x="6832593" y="2463800"/>
                </a:cubicBezTo>
                <a:lnTo>
                  <a:pt x="101607" y="2463800"/>
                </a:lnTo>
                <a:cubicBezTo>
                  <a:pt x="45491" y="2463800"/>
                  <a:pt x="0" y="2418309"/>
                  <a:pt x="0" y="23621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240602" y="5143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85725"/>
                </a:moveTo>
                <a:cubicBezTo>
                  <a:pt x="176004" y="85725"/>
                  <a:pt x="102513" y="117872"/>
                  <a:pt x="48488" y="170200"/>
                </a:cubicBezTo>
                <a:cubicBezTo>
                  <a:pt x="37148" y="181183"/>
                  <a:pt x="19020" y="180915"/>
                  <a:pt x="8126" y="169575"/>
                </a:cubicBezTo>
                <a:cubicBezTo>
                  <a:pt x="-2768" y="158234"/>
                  <a:pt x="-2590" y="140107"/>
                  <a:pt x="8751" y="129213"/>
                </a:cubicBezTo>
                <a:cubicBezTo>
                  <a:pt x="72956" y="66883"/>
                  <a:pt x="160645" y="28575"/>
                  <a:pt x="257175" y="28575"/>
                </a:cubicBezTo>
                <a:cubicBezTo>
                  <a:pt x="353705" y="28575"/>
                  <a:pt x="441394" y="66883"/>
                  <a:pt x="505688" y="129213"/>
                </a:cubicBezTo>
                <a:cubicBezTo>
                  <a:pt x="517029" y="140196"/>
                  <a:pt x="517297" y="158323"/>
                  <a:pt x="506313" y="169575"/>
                </a:cubicBezTo>
                <a:cubicBezTo>
                  <a:pt x="495330" y="180826"/>
                  <a:pt x="477203" y="181183"/>
                  <a:pt x="465951" y="170200"/>
                </a:cubicBezTo>
                <a:cubicBezTo>
                  <a:pt x="411837" y="117872"/>
                  <a:pt x="338346" y="85725"/>
                  <a:pt x="257175" y="85725"/>
                </a:cubicBezTo>
                <a:close/>
                <a:moveTo>
                  <a:pt x="214313" y="385763"/>
                </a:moveTo>
                <a:cubicBezTo>
                  <a:pt x="214313" y="362106"/>
                  <a:pt x="233519" y="342900"/>
                  <a:pt x="257175" y="342900"/>
                </a:cubicBezTo>
                <a:cubicBezTo>
                  <a:pt x="280831" y="342900"/>
                  <a:pt x="300038" y="362106"/>
                  <a:pt x="300038" y="385763"/>
                </a:cubicBezTo>
                <a:cubicBezTo>
                  <a:pt x="300038" y="409419"/>
                  <a:pt x="280831" y="428625"/>
                  <a:pt x="257175" y="428625"/>
                </a:cubicBezTo>
                <a:cubicBezTo>
                  <a:pt x="233519" y="428625"/>
                  <a:pt x="214313" y="409419"/>
                  <a:pt x="214313" y="385763"/>
                </a:cubicBezTo>
                <a:close/>
                <a:moveTo>
                  <a:pt x="150019" y="291286"/>
                </a:moveTo>
                <a:cubicBezTo>
                  <a:pt x="139571" y="303163"/>
                  <a:pt x="121533" y="304234"/>
                  <a:pt x="109657" y="293787"/>
                </a:cubicBezTo>
                <a:cubicBezTo>
                  <a:pt x="97780" y="283339"/>
                  <a:pt x="96709" y="265301"/>
                  <a:pt x="107156" y="253425"/>
                </a:cubicBezTo>
                <a:cubicBezTo>
                  <a:pt x="143768" y="211991"/>
                  <a:pt x="197435" y="185738"/>
                  <a:pt x="257175" y="185738"/>
                </a:cubicBezTo>
                <a:cubicBezTo>
                  <a:pt x="316915" y="185738"/>
                  <a:pt x="370582" y="211991"/>
                  <a:pt x="407194" y="253425"/>
                </a:cubicBezTo>
                <a:cubicBezTo>
                  <a:pt x="417641" y="265301"/>
                  <a:pt x="416481" y="283339"/>
                  <a:pt x="404693" y="293787"/>
                </a:cubicBezTo>
                <a:cubicBezTo>
                  <a:pt x="392906" y="304234"/>
                  <a:pt x="374779" y="303074"/>
                  <a:pt x="364331" y="291286"/>
                </a:cubicBezTo>
                <a:cubicBezTo>
                  <a:pt x="338078" y="261551"/>
                  <a:pt x="299859" y="242888"/>
                  <a:pt x="257175" y="242888"/>
                </a:cubicBezTo>
                <a:cubicBezTo>
                  <a:pt x="214491" y="242888"/>
                  <a:pt x="176272" y="261551"/>
                  <a:pt x="150019" y="291286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5" name="Text 12"/>
          <p:cNvSpPr/>
          <p:nvPr/>
        </p:nvSpPr>
        <p:spPr>
          <a:xfrm>
            <a:off x="5986727" y="4940300"/>
            <a:ext cx="598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Teknologi sebagai Faktor Penentu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86727" y="5295900"/>
            <a:ext cx="5753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Pengalaman tamu yang didukung teknologi dan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"momen yang dapat diabadikan"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menjadi kunci daya saing.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28-15:21:45-d3ce428s8jdo4os5dc9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" y="0"/>
            <a:ext cx="12206605" cy="687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0580" y="4344035"/>
            <a:ext cx="640270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Past, Present, Future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9816" y="1311662"/>
            <a:ext cx="3271784" cy="30706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9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45-d3ce428s8jdo4os5dc8g.jpg">    </p:cNvPr>
          <p:cNvPicPr>
            <a:picLocks noChangeAspect="1"/>
          </p:cNvPicPr>
          <p:nvPr/>
        </p:nvPicPr>
        <p:blipFill>
          <a:blip r:embed="rId1"/>
          <a:srcRect l="799" r="1289" t="0" b="1905"/>
          <a:stretch/>
        </p:blipFill>
        <p:spPr>
          <a:xfrm>
            <a:off x="-156210" y="-138430"/>
            <a:ext cx="12347575" cy="6997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Dari Ketergantungan MICE ke Krisis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965200"/>
            <a:ext cx="3390900" cy="5638800"/>
          </a:xfrm>
          <a:custGeom>
            <a:avLst/>
            <a:gdLst/>
            <a:ahLst/>
            <a:cxnLst/>
            <a:rect l="l" t="t" r="r" b="b"/>
            <a:pathLst>
              <a:path w="3390900" h="5638800">
                <a:moveTo>
                  <a:pt x="101591" y="0"/>
                </a:moveTo>
                <a:lnTo>
                  <a:pt x="3289309" y="0"/>
                </a:lnTo>
                <a:cubicBezTo>
                  <a:pt x="3345416" y="0"/>
                  <a:pt x="3390900" y="45484"/>
                  <a:pt x="3390900" y="101591"/>
                </a:cubicBezTo>
                <a:lnTo>
                  <a:pt x="3390900" y="5537209"/>
                </a:lnTo>
                <a:cubicBezTo>
                  <a:pt x="3390900" y="5593316"/>
                  <a:pt x="3345416" y="5638800"/>
                  <a:pt x="3289309" y="5638800"/>
                </a:cubicBezTo>
                <a:lnTo>
                  <a:pt x="101591" y="5638800"/>
                </a:lnTo>
                <a:cubicBezTo>
                  <a:pt x="45484" y="5638800"/>
                  <a:pt x="0" y="5593316"/>
                  <a:pt x="0" y="55372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76155" y="2438400"/>
            <a:ext cx="260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MICE &amp; Pemerintah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895600"/>
            <a:ext cx="298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 historis yang menyumbang </a:t>
            </a:r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6-21%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dari total bisnis hotel.</a:t>
            </a:r>
            <a:endParaRPr lang="en-US" sz="1600" dirty="0"/>
          </a:p>
        </p:txBody>
      </p:sp>
      <p:pic>
        <p:nvPicPr>
          <p:cNvPr id="7" name="Image 1" descr="https://kimi-web-img.moonshot.cn/img/thumbs.dreamstime.com/2ce61f7daba625149e0884e7b3025a31a3ec7482.jpg">    </p:cNvPr>
          <p:cNvPicPr>
            <a:picLocks noChangeAspect="1"/>
          </p:cNvPicPr>
          <p:nvPr/>
        </p:nvPicPr>
        <p:blipFill>
          <a:blip r:embed="rId2"/>
          <a:srcRect l="0" r="0" t="9200" b="9200"/>
          <a:stretch/>
        </p:blipFill>
        <p:spPr>
          <a:xfrm>
            <a:off x="457200" y="3505200"/>
            <a:ext cx="2984500" cy="1625600"/>
          </a:xfrm>
          <a:prstGeom prst="roundRect">
            <a:avLst>
              <a:gd name="adj" fmla="val 4688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4027091" y="32004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843260" y="414635"/>
                </a:moveTo>
                <a:cubicBezTo>
                  <a:pt x="861864" y="396032"/>
                  <a:pt x="861864" y="365820"/>
                  <a:pt x="843260" y="347216"/>
                </a:cubicBezTo>
                <a:lnTo>
                  <a:pt x="652760" y="156716"/>
                </a:lnTo>
                <a:cubicBezTo>
                  <a:pt x="634157" y="138113"/>
                  <a:pt x="603945" y="138113"/>
                  <a:pt x="585341" y="156716"/>
                </a:cubicBezTo>
                <a:cubicBezTo>
                  <a:pt x="566738" y="175320"/>
                  <a:pt x="566738" y="205532"/>
                  <a:pt x="585341" y="224135"/>
                </a:cubicBezTo>
                <a:lnTo>
                  <a:pt x="694581" y="333375"/>
                </a:lnTo>
                <a:lnTo>
                  <a:pt x="47625" y="333375"/>
                </a:lnTo>
                <a:cubicBezTo>
                  <a:pt x="21282" y="333375"/>
                  <a:pt x="0" y="354657"/>
                  <a:pt x="0" y="381000"/>
                </a:cubicBezTo>
                <a:cubicBezTo>
                  <a:pt x="0" y="407343"/>
                  <a:pt x="21282" y="428625"/>
                  <a:pt x="47625" y="428625"/>
                </a:cubicBezTo>
                <a:lnTo>
                  <a:pt x="694581" y="428625"/>
                </a:lnTo>
                <a:lnTo>
                  <a:pt x="585341" y="537865"/>
                </a:lnTo>
                <a:cubicBezTo>
                  <a:pt x="566737" y="556468"/>
                  <a:pt x="566737" y="586680"/>
                  <a:pt x="585341" y="605284"/>
                </a:cubicBezTo>
                <a:cubicBezTo>
                  <a:pt x="603945" y="623888"/>
                  <a:pt x="634157" y="623888"/>
                  <a:pt x="652760" y="605284"/>
                </a:cubicBezTo>
                <a:lnTo>
                  <a:pt x="843260" y="414784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9" name="Text 5"/>
          <p:cNvSpPr/>
          <p:nvPr/>
        </p:nvSpPr>
        <p:spPr>
          <a:xfrm>
            <a:off x="3853789" y="406400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AUSTERITAS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260843" y="965200"/>
            <a:ext cx="6680200" cy="1168400"/>
          </a:xfrm>
          <a:custGeom>
            <a:avLst/>
            <a:gdLst/>
            <a:ahLst/>
            <a:cxnLst/>
            <a:rect l="l" t="t" r="r" b="b"/>
            <a:pathLst>
              <a:path w="6680200" h="1168400">
                <a:moveTo>
                  <a:pt x="101604" y="0"/>
                </a:moveTo>
                <a:lnTo>
                  <a:pt x="6578596" y="0"/>
                </a:lnTo>
                <a:cubicBezTo>
                  <a:pt x="6634710" y="0"/>
                  <a:pt x="6680200" y="45490"/>
                  <a:pt x="6680200" y="101604"/>
                </a:cubicBezTo>
                <a:lnTo>
                  <a:pt x="6680200" y="1066796"/>
                </a:lnTo>
                <a:cubicBezTo>
                  <a:pt x="6680200" y="1122910"/>
                  <a:pt x="6634710" y="1168400"/>
                  <a:pt x="65785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3C4FF">
              <a:alpha val="10196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5413243" y="11176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C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Penurunan Drastis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13243" y="1473200"/>
            <a:ext cx="6375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Kebijakan penghematan mengakibatkan penurunan hunian hingga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highlight>
                  <a:srgbClr val="FFD7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&gt;40%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dan pendapatan tahunan lebih dari 40%.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260843" y="5435600"/>
            <a:ext cx="6680200" cy="1168400"/>
          </a:xfrm>
          <a:custGeom>
            <a:avLst/>
            <a:gdLst/>
            <a:ahLst/>
            <a:cxnLst/>
            <a:rect l="l" t="t" r="r" b="b"/>
            <a:pathLst>
              <a:path w="6680200" h="1168400">
                <a:moveTo>
                  <a:pt x="101604" y="0"/>
                </a:moveTo>
                <a:lnTo>
                  <a:pt x="6578596" y="0"/>
                </a:lnTo>
                <a:cubicBezTo>
                  <a:pt x="6634710" y="0"/>
                  <a:pt x="6680200" y="45490"/>
                  <a:pt x="6680200" y="101604"/>
                </a:cubicBezTo>
                <a:lnTo>
                  <a:pt x="6680200" y="1066796"/>
                </a:lnTo>
                <a:cubicBezTo>
                  <a:pt x="6680200" y="1122910"/>
                  <a:pt x="6634710" y="1168400"/>
                  <a:pt x="65785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5413243" y="55880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Dampak Ekonomi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413243" y="5943600"/>
            <a:ext cx="6375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Ancaman PHK massal (36.7% staf permanen), potensi gagal bayar pinjaman (58%), dan penurunan PAD daerah.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45-d3ce428s8jdo4os5dc8g.jpg">    </p:cNvPr>
          <p:cNvPicPr>
            <a:picLocks noChangeAspect="1"/>
          </p:cNvPicPr>
          <p:nvPr/>
        </p:nvPicPr>
        <p:blipFill>
          <a:blip r:embed="rId1"/>
          <a:srcRect l="799" r="1289" t="0" b="1905"/>
          <a:stretch/>
        </p:blipFill>
        <p:spPr>
          <a:xfrm>
            <a:off x="-156210" y="-138430"/>
            <a:ext cx="12347575" cy="6997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" y="1397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Lanskap Risiko Masa Depan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876800" y="2616200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1219200" y="0"/>
                </a:moveTo>
                <a:lnTo>
                  <a:pt x="1219200" y="0"/>
                </a:lnTo>
                <a:cubicBezTo>
                  <a:pt x="1892095" y="0"/>
                  <a:pt x="2438400" y="546305"/>
                  <a:pt x="2438400" y="1219200"/>
                </a:cubicBezTo>
                <a:lnTo>
                  <a:pt x="2438400" y="1219200"/>
                </a:lnTo>
                <a:cubicBezTo>
                  <a:pt x="2438400" y="1892095"/>
                  <a:pt x="1892095" y="2438400"/>
                  <a:pt x="1219200" y="2438400"/>
                </a:cubicBezTo>
                <a:lnTo>
                  <a:pt x="1219200" y="2438400"/>
                </a:lnTo>
                <a:cubicBezTo>
                  <a:pt x="546305" y="2438400"/>
                  <a:pt x="0" y="1892095"/>
                  <a:pt x="0" y="1219200"/>
                </a:cubicBezTo>
                <a:lnTo>
                  <a:pt x="0" y="1219200"/>
                </a:lnTo>
                <a:cubicBezTo>
                  <a:pt x="0" y="546305"/>
                  <a:pt x="546305" y="0"/>
                  <a:pt x="12192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67400" y="3200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6" name="Text 3"/>
          <p:cNvSpPr/>
          <p:nvPr/>
        </p:nvSpPr>
        <p:spPr>
          <a:xfrm>
            <a:off x="5080000" y="3759200"/>
            <a:ext cx="20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7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Ketidakpastian &amp; Volatilitas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54200" y="2209800"/>
            <a:ext cx="2641600" cy="1016000"/>
          </a:xfrm>
          <a:custGeom>
            <a:avLst/>
            <a:gdLst/>
            <a:ahLst/>
            <a:cxnLst/>
            <a:rect l="l" t="t" r="r" b="b"/>
            <a:pathLst>
              <a:path w="2641600" h="1016000">
                <a:moveTo>
                  <a:pt x="101600" y="0"/>
                </a:moveTo>
                <a:lnTo>
                  <a:pt x="2540000" y="0"/>
                </a:lnTo>
                <a:cubicBezTo>
                  <a:pt x="2596075" y="0"/>
                  <a:pt x="2641600" y="45525"/>
                  <a:pt x="2641600" y="101600"/>
                </a:cubicBezTo>
                <a:lnTo>
                  <a:pt x="2641600" y="914400"/>
                </a:lnTo>
                <a:cubicBezTo>
                  <a:pt x="2641600" y="970475"/>
                  <a:pt x="2596075" y="1016000"/>
                  <a:pt x="2540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3C4FF">
              <a:alpha val="1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006600" y="23622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C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Kebijakan &amp; Politik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06600" y="2667000"/>
            <a:ext cx="233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Perubahan kebijakan, risiko overtourism.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296400" y="2616200"/>
            <a:ext cx="2641600" cy="812800"/>
          </a:xfrm>
          <a:custGeom>
            <a:avLst/>
            <a:gdLst/>
            <a:ahLst/>
            <a:cxnLst/>
            <a:rect l="l" t="t" r="r" b="b"/>
            <a:pathLst>
              <a:path w="2641600" h="812800">
                <a:moveTo>
                  <a:pt x="101600" y="0"/>
                </a:moveTo>
                <a:lnTo>
                  <a:pt x="2540000" y="0"/>
                </a:lnTo>
                <a:cubicBezTo>
                  <a:pt x="2596075" y="0"/>
                  <a:pt x="2641600" y="45525"/>
                  <a:pt x="2641600" y="101600"/>
                </a:cubicBezTo>
                <a:lnTo>
                  <a:pt x="2641600" y="711200"/>
                </a:lnTo>
                <a:cubicBezTo>
                  <a:pt x="2641600" y="767275"/>
                  <a:pt x="2596075" y="812800"/>
                  <a:pt x="25400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448800" y="27686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Infrastruktur &amp; ESG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448800" y="3073400"/>
            <a:ext cx="248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Proyek IKN, peraturan lingkungan.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96200" y="4648200"/>
            <a:ext cx="2641600" cy="812800"/>
          </a:xfrm>
          <a:custGeom>
            <a:avLst/>
            <a:gdLst/>
            <a:ahLst/>
            <a:cxnLst/>
            <a:rect l="l" t="t" r="r" b="b"/>
            <a:pathLst>
              <a:path w="2641600" h="812800">
                <a:moveTo>
                  <a:pt x="101600" y="0"/>
                </a:moveTo>
                <a:lnTo>
                  <a:pt x="2540000" y="0"/>
                </a:lnTo>
                <a:cubicBezTo>
                  <a:pt x="2596075" y="0"/>
                  <a:pt x="2641600" y="45525"/>
                  <a:pt x="2641600" y="101600"/>
                </a:cubicBezTo>
                <a:lnTo>
                  <a:pt x="2641600" y="711200"/>
                </a:lnTo>
                <a:cubicBezTo>
                  <a:pt x="2641600" y="767275"/>
                  <a:pt x="2596075" y="812800"/>
                  <a:pt x="25400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1E9B3">
              <a:alpha val="1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848600" y="48006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E9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Biaya Operasional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848600" y="5105400"/>
            <a:ext cx="248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Kenaikan upah, utilitas, dan bahan.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4140200"/>
            <a:ext cx="2641600" cy="1016000"/>
          </a:xfrm>
          <a:custGeom>
            <a:avLst/>
            <a:gdLst/>
            <a:ahLst/>
            <a:cxnLst/>
            <a:rect l="l" t="t" r="r" b="b"/>
            <a:pathLst>
              <a:path w="2641600" h="1016000">
                <a:moveTo>
                  <a:pt x="101600" y="0"/>
                </a:moveTo>
                <a:lnTo>
                  <a:pt x="2540000" y="0"/>
                </a:lnTo>
                <a:cubicBezTo>
                  <a:pt x="2596075" y="0"/>
                  <a:pt x="2641600" y="45525"/>
                  <a:pt x="2641600" y="101600"/>
                </a:cubicBezTo>
                <a:lnTo>
                  <a:pt x="2641600" y="914400"/>
                </a:lnTo>
                <a:cubicBezTo>
                  <a:pt x="2641600" y="970475"/>
                  <a:pt x="2596075" y="1016000"/>
                  <a:pt x="2540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E7EB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06400" y="42926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Strategi Bertahan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6400" y="4597400"/>
            <a:ext cx="233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Diversifikasi, bangun aset hijau, proses tangguh.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28-15:21:45-d3ce428s8jdo4os5dc9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" y="0"/>
            <a:ext cx="12206605" cy="687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0580" y="4344035"/>
            <a:ext cx="640270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Our Role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9816" y="1311662"/>
            <a:ext cx="3271784" cy="30706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9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45-d3ce428s8jdo4os5dc8g.jpg">    </p:cNvPr>
          <p:cNvPicPr>
            <a:picLocks noChangeAspect="1"/>
          </p:cNvPicPr>
          <p:nvPr/>
        </p:nvPicPr>
        <p:blipFill>
          <a:blip r:embed="rId1"/>
          <a:srcRect l="799" r="1289" t="0" b="1905"/>
          <a:stretch/>
        </p:blipFill>
        <p:spPr>
          <a:xfrm>
            <a:off x="-156210" y="-138430"/>
            <a:ext cx="12347575" cy="6997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130300"/>
            <a:ext cx="436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Internal Audit: Shield &amp; Guide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476500"/>
            <a:ext cx="436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Berfungsi sebagai penyangga kritis dan mitra strategis untuk mitigasi risiko, manajemen krisis, dan pengendalian.</a:t>
            </a:r>
            <a:endParaRPr lang="en-US" sz="1600" dirty="0"/>
          </a:p>
        </p:txBody>
      </p:sp>
      <p:pic>
        <p:nvPicPr>
          <p:cNvPr id="5" name="Image 1" descr="https://kimi-web-img.moonshot.cn/img/img.freepik.com/b41291935bbc12280166ce65660d0cdd9faa02c3.jpg">    </p:cNvPr>
          <p:cNvPicPr>
            <a:picLocks noChangeAspect="1"/>
          </p:cNvPicPr>
          <p:nvPr/>
        </p:nvPicPr>
        <p:blipFill>
          <a:blip r:embed="rId2"/>
          <a:srcRect l="0" r="0" t="15088" b="15088"/>
          <a:stretch/>
        </p:blipFill>
        <p:spPr>
          <a:xfrm>
            <a:off x="254000" y="3695700"/>
            <a:ext cx="4368800" cy="203200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Shape 2"/>
          <p:cNvSpPr/>
          <p:nvPr/>
        </p:nvSpPr>
        <p:spPr>
          <a:xfrm>
            <a:off x="4927600" y="2057400"/>
            <a:ext cx="7010400" cy="1270000"/>
          </a:xfrm>
          <a:custGeom>
            <a:avLst/>
            <a:gdLst/>
            <a:ahLst/>
            <a:cxnLst/>
            <a:rect l="l" t="t" r="r" b="b"/>
            <a:pathLst>
              <a:path w="7010400" h="1270000">
                <a:moveTo>
                  <a:pt x="101600" y="0"/>
                </a:moveTo>
                <a:lnTo>
                  <a:pt x="6908800" y="0"/>
                </a:lnTo>
                <a:cubicBezTo>
                  <a:pt x="6964875" y="0"/>
                  <a:pt x="7010400" y="45525"/>
                  <a:pt x="7010400" y="101600"/>
                </a:cubicBezTo>
                <a:lnTo>
                  <a:pt x="7010400" y="1168400"/>
                </a:lnTo>
                <a:cubicBezTo>
                  <a:pt x="7010400" y="1224475"/>
                  <a:pt x="6964875" y="1270000"/>
                  <a:pt x="690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5130800" y="2260600"/>
            <a:ext cx="683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7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Mitigasi Risiko Finansial &amp; Manajemen Krisis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130800" y="26162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Melakukan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penilaian risiko proaktif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audit real-time saat krisis, dan analisis pasca-krisis untuk membangun ketahanan.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927600" y="3530600"/>
            <a:ext cx="7010400" cy="1270000"/>
          </a:xfrm>
          <a:custGeom>
            <a:avLst/>
            <a:gdLst/>
            <a:ahLst/>
            <a:cxnLst/>
            <a:rect l="l" t="t" r="r" b="b"/>
            <a:pathLst>
              <a:path w="7010400" h="1270000">
                <a:moveTo>
                  <a:pt x="101600" y="0"/>
                </a:moveTo>
                <a:lnTo>
                  <a:pt x="6908800" y="0"/>
                </a:lnTo>
                <a:cubicBezTo>
                  <a:pt x="6964875" y="0"/>
                  <a:pt x="7010400" y="45525"/>
                  <a:pt x="7010400" y="101600"/>
                </a:cubicBezTo>
                <a:lnTo>
                  <a:pt x="7010400" y="1168400"/>
                </a:lnTo>
                <a:cubicBezTo>
                  <a:pt x="7010400" y="1224475"/>
                  <a:pt x="6964875" y="1270000"/>
                  <a:pt x="690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5130800" y="3733800"/>
            <a:ext cx="683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Pencegahan Fraud &amp; Pengendalian Revenue Leakage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130800" y="40894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Mengaudit sistem POS/PMS, memverifikasi kepatuhan, dan merekonsiliasi pendapatan harian untuk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mengamankan setiap dolar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45-d3ce428s8jdo4os5dc8g.jpg">    </p:cNvPr>
          <p:cNvPicPr>
            <a:picLocks noChangeAspect="1"/>
          </p:cNvPicPr>
          <p:nvPr/>
        </p:nvPicPr>
        <p:blipFill>
          <a:blip r:embed="rId1"/>
          <a:srcRect l="799" r="1289" t="0" b="1905"/>
          <a:stretch/>
        </p:blipFill>
        <p:spPr>
          <a:xfrm>
            <a:off x="-156210" y="-138430"/>
            <a:ext cx="12347575" cy="6997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" y="19812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 Audit: Digital Resilience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896533" y="2895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3657600"/>
            <a:ext cx="394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Keamanan Siber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5600" y="4114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Uji kerentanan PMS/POS, review keamanan data tamu, dan simulasi serangan untuk melindungi aset digital.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829300" y="28956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33C4FF"/>
          </a:solidFill>
          <a:ln/>
        </p:spPr>
      </p:sp>
      <p:sp>
        <p:nvSpPr>
          <p:cNvPr id="8" name="Text 5"/>
          <p:cNvSpPr/>
          <p:nvPr/>
        </p:nvSpPr>
        <p:spPr>
          <a:xfrm>
            <a:off x="4123267" y="3657600"/>
            <a:ext cx="394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C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Integritas Sistem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50267" y="4114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Audit integritas data, ketersediaan sistem, dan efektivitas kontrol untuk memastikan operasional lancar.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09667" y="2895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1" name="Text 8"/>
          <p:cNvSpPr/>
          <p:nvPr/>
        </p:nvSpPr>
        <p:spPr>
          <a:xfrm>
            <a:off x="8017934" y="3657600"/>
            <a:ext cx="394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D7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Dukungan Inovasi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44934" y="4114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Evaluasi efisiensi otomasi, kesiapan teknologi baru, dan dukungan </a:t>
            </a:r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guest experience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yang berbeda.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45-d3ce428s8jdo4os5dc8g.jpg">    </p:cNvPr>
          <p:cNvPicPr>
            <a:picLocks noChangeAspect="1"/>
          </p:cNvPicPr>
          <p:nvPr/>
        </p:nvPicPr>
        <p:blipFill>
          <a:blip r:embed="rId1"/>
          <a:srcRect l="799" r="1289" t="0" b="1905"/>
          <a:stretch/>
        </p:blipFill>
        <p:spPr>
          <a:xfrm>
            <a:off x="-156210" y="-138430"/>
            <a:ext cx="12347575" cy="6997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" y="1905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Finance &amp; Tax: Optimize &amp; Comply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819400"/>
            <a:ext cx="5689600" cy="2133600"/>
          </a:xfrm>
          <a:custGeom>
            <a:avLst/>
            <a:gdLst/>
            <a:ahLst/>
            <a:cxnLst/>
            <a:rect l="l" t="t" r="r" b="b"/>
            <a:pathLst>
              <a:path w="5689600" h="2133600">
                <a:moveTo>
                  <a:pt x="101602" y="0"/>
                </a:moveTo>
                <a:lnTo>
                  <a:pt x="5587998" y="0"/>
                </a:lnTo>
                <a:cubicBezTo>
                  <a:pt x="5644111" y="0"/>
                  <a:pt x="5689600" y="45489"/>
                  <a:pt x="5689600" y="101602"/>
                </a:cubicBezTo>
                <a:lnTo>
                  <a:pt x="5689600" y="2031998"/>
                </a:lnTo>
                <a:cubicBezTo>
                  <a:pt x="5689600" y="2088111"/>
                  <a:pt x="5644111" y="2133600"/>
                  <a:pt x="5587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09600" y="313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71438"/>
                </a:moveTo>
                <a:lnTo>
                  <a:pt x="95250" y="59531"/>
                </a:lnTo>
                <a:cubicBezTo>
                  <a:pt x="95250" y="26640"/>
                  <a:pt x="159246" y="0"/>
                  <a:pt x="238125" y="0"/>
                </a:cubicBezTo>
                <a:cubicBezTo>
                  <a:pt x="317004" y="0"/>
                  <a:pt x="381000" y="26640"/>
                  <a:pt x="381000" y="59531"/>
                </a:cubicBezTo>
                <a:lnTo>
                  <a:pt x="381000" y="71438"/>
                </a:lnTo>
                <a:cubicBezTo>
                  <a:pt x="381000" y="94208"/>
                  <a:pt x="350267" y="114002"/>
                  <a:pt x="305098" y="124048"/>
                </a:cubicBezTo>
                <a:cubicBezTo>
                  <a:pt x="303312" y="121965"/>
                  <a:pt x="301451" y="119955"/>
                  <a:pt x="299591" y="118095"/>
                </a:cubicBezTo>
                <a:cubicBezTo>
                  <a:pt x="288057" y="106710"/>
                  <a:pt x="273174" y="98078"/>
                  <a:pt x="257621" y="91678"/>
                </a:cubicBezTo>
                <a:cubicBezTo>
                  <a:pt x="226442" y="78656"/>
                  <a:pt x="185812" y="71512"/>
                  <a:pt x="142875" y="71512"/>
                </a:cubicBezTo>
                <a:cubicBezTo>
                  <a:pt x="126578" y="71512"/>
                  <a:pt x="110654" y="72554"/>
                  <a:pt x="95399" y="74563"/>
                </a:cubicBezTo>
                <a:cubicBezTo>
                  <a:pt x="95250" y="73596"/>
                  <a:pt x="95250" y="72554"/>
                  <a:pt x="95250" y="71512"/>
                </a:cubicBezTo>
                <a:close/>
                <a:moveTo>
                  <a:pt x="321469" y="262682"/>
                </a:moveTo>
                <a:lnTo>
                  <a:pt x="321469" y="228302"/>
                </a:lnTo>
                <a:cubicBezTo>
                  <a:pt x="332705" y="225400"/>
                  <a:pt x="343272" y="221977"/>
                  <a:pt x="352871" y="217959"/>
                </a:cubicBezTo>
                <a:cubicBezTo>
                  <a:pt x="362694" y="213866"/>
                  <a:pt x="372294" y="208880"/>
                  <a:pt x="381000" y="202853"/>
                </a:cubicBezTo>
                <a:lnTo>
                  <a:pt x="381000" y="214313"/>
                </a:lnTo>
                <a:cubicBezTo>
                  <a:pt x="381000" y="234255"/>
                  <a:pt x="357560" y="251892"/>
                  <a:pt x="321469" y="262682"/>
                </a:cubicBezTo>
                <a:close/>
                <a:moveTo>
                  <a:pt x="321469" y="191244"/>
                </a:moveTo>
                <a:lnTo>
                  <a:pt x="321469" y="166688"/>
                </a:lnTo>
                <a:cubicBezTo>
                  <a:pt x="321469" y="163339"/>
                  <a:pt x="321171" y="160139"/>
                  <a:pt x="320725" y="157014"/>
                </a:cubicBezTo>
                <a:cubicBezTo>
                  <a:pt x="332259" y="154112"/>
                  <a:pt x="343049" y="150614"/>
                  <a:pt x="352871" y="146447"/>
                </a:cubicBezTo>
                <a:cubicBezTo>
                  <a:pt x="362694" y="142280"/>
                  <a:pt x="372294" y="137368"/>
                  <a:pt x="381000" y="131341"/>
                </a:cubicBezTo>
                <a:lnTo>
                  <a:pt x="381000" y="142801"/>
                </a:lnTo>
                <a:cubicBezTo>
                  <a:pt x="381000" y="162744"/>
                  <a:pt x="357560" y="180380"/>
                  <a:pt x="321469" y="191170"/>
                </a:cubicBezTo>
                <a:close/>
                <a:moveTo>
                  <a:pt x="0" y="178594"/>
                </a:moveTo>
                <a:lnTo>
                  <a:pt x="0" y="166688"/>
                </a:lnTo>
                <a:cubicBezTo>
                  <a:pt x="0" y="133796"/>
                  <a:pt x="63996" y="107156"/>
                  <a:pt x="142875" y="107156"/>
                </a:cubicBezTo>
                <a:cubicBezTo>
                  <a:pt x="221754" y="107156"/>
                  <a:pt x="285750" y="133796"/>
                  <a:pt x="285750" y="166688"/>
                </a:cubicBezTo>
                <a:lnTo>
                  <a:pt x="285750" y="178594"/>
                </a:lnTo>
                <a:cubicBezTo>
                  <a:pt x="285750" y="211485"/>
                  <a:pt x="221754" y="238125"/>
                  <a:pt x="142875" y="238125"/>
                </a:cubicBezTo>
                <a:cubicBezTo>
                  <a:pt x="63996" y="238125"/>
                  <a:pt x="0" y="211485"/>
                  <a:pt x="0" y="178594"/>
                </a:cubicBezTo>
                <a:close/>
                <a:moveTo>
                  <a:pt x="285750" y="250031"/>
                </a:moveTo>
                <a:cubicBezTo>
                  <a:pt x="285750" y="282922"/>
                  <a:pt x="221754" y="309563"/>
                  <a:pt x="142875" y="309563"/>
                </a:cubicBezTo>
                <a:cubicBezTo>
                  <a:pt x="63996" y="309563"/>
                  <a:pt x="0" y="282922"/>
                  <a:pt x="0" y="250031"/>
                </a:cubicBezTo>
                <a:lnTo>
                  <a:pt x="0" y="238571"/>
                </a:lnTo>
                <a:cubicBezTo>
                  <a:pt x="8632" y="244599"/>
                  <a:pt x="18231" y="249510"/>
                  <a:pt x="28129" y="253678"/>
                </a:cubicBezTo>
                <a:cubicBezTo>
                  <a:pt x="59308" y="266700"/>
                  <a:pt x="99938" y="273844"/>
                  <a:pt x="142875" y="273844"/>
                </a:cubicBezTo>
                <a:cubicBezTo>
                  <a:pt x="185812" y="273844"/>
                  <a:pt x="226442" y="266626"/>
                  <a:pt x="257621" y="253678"/>
                </a:cubicBezTo>
                <a:cubicBezTo>
                  <a:pt x="267444" y="249585"/>
                  <a:pt x="277044" y="244599"/>
                  <a:pt x="285750" y="238571"/>
                </a:cubicBezTo>
                <a:lnTo>
                  <a:pt x="285750" y="250031"/>
                </a:lnTo>
                <a:close/>
                <a:moveTo>
                  <a:pt x="285750" y="310009"/>
                </a:moveTo>
                <a:lnTo>
                  <a:pt x="285750" y="321469"/>
                </a:lnTo>
                <a:cubicBezTo>
                  <a:pt x="285750" y="354360"/>
                  <a:pt x="221754" y="381000"/>
                  <a:pt x="142875" y="381000"/>
                </a:cubicBezTo>
                <a:cubicBezTo>
                  <a:pt x="63996" y="381000"/>
                  <a:pt x="0" y="354360"/>
                  <a:pt x="0" y="321469"/>
                </a:cubicBezTo>
                <a:lnTo>
                  <a:pt x="0" y="310009"/>
                </a:lnTo>
                <a:cubicBezTo>
                  <a:pt x="8632" y="316037"/>
                  <a:pt x="18231" y="320948"/>
                  <a:pt x="28129" y="325115"/>
                </a:cubicBezTo>
                <a:cubicBezTo>
                  <a:pt x="59308" y="338138"/>
                  <a:pt x="99938" y="345281"/>
                  <a:pt x="142875" y="345281"/>
                </a:cubicBezTo>
                <a:cubicBezTo>
                  <a:pt x="185812" y="345281"/>
                  <a:pt x="226442" y="338063"/>
                  <a:pt x="257621" y="325115"/>
                </a:cubicBezTo>
                <a:cubicBezTo>
                  <a:pt x="267444" y="321022"/>
                  <a:pt x="277044" y="316037"/>
                  <a:pt x="285750" y="310009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6" name="Text 3"/>
          <p:cNvSpPr/>
          <p:nvPr/>
        </p:nvSpPr>
        <p:spPr>
          <a:xfrm>
            <a:off x="1238250" y="3124200"/>
            <a:ext cx="3111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Optimasi Keuangan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8800" y="3683000"/>
            <a:ext cx="508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Perencanaan pajak dinamis untuk efisiensi biaya.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Manfaatkan insentif untuk </a:t>
            </a:r>
            <a:pPr>
              <a:lnSpc>
                <a:spcPct val="120000"/>
              </a:lnSpc>
              <a:spcBef>
                <a:spcPts val="10"/>
              </a:spcBef>
            </a:pPr>
            <a:r>
              <a:rPr lang="en-US" sz="1400" dirty="0">
                <a:solidFill>
                  <a:srgbClr val="212529"/>
                </a:solidFill>
                <a:highlight>
                  <a:srgbClr val="FFD7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green capex </a:t>
            </a:r>
            <a:pPr>
              <a:lnSpc>
                <a:spcPct val="120000"/>
              </a:lnSpc>
              <a:spcBef>
                <a:spcPts val="10"/>
              </a:spcBef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Restrukturisasi arus kas untuk menjaga likuiditas.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400" y="2819400"/>
            <a:ext cx="5689600" cy="2133600"/>
          </a:xfrm>
          <a:custGeom>
            <a:avLst/>
            <a:gdLst/>
            <a:ahLst/>
            <a:cxnLst/>
            <a:rect l="l" t="t" r="r" b="b"/>
            <a:pathLst>
              <a:path w="5689600" h="2133600">
                <a:moveTo>
                  <a:pt x="101602" y="0"/>
                </a:moveTo>
                <a:lnTo>
                  <a:pt x="5587998" y="0"/>
                </a:lnTo>
                <a:cubicBezTo>
                  <a:pt x="5644111" y="0"/>
                  <a:pt x="5689600" y="45489"/>
                  <a:pt x="5689600" y="101602"/>
                </a:cubicBezTo>
                <a:lnTo>
                  <a:pt x="5689600" y="2031998"/>
                </a:lnTo>
                <a:cubicBezTo>
                  <a:pt x="5689600" y="2088111"/>
                  <a:pt x="5644111" y="2133600"/>
                  <a:pt x="5587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556375" y="31369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47699" y="47625"/>
                </a:moveTo>
                <a:cubicBezTo>
                  <a:pt x="47699" y="21357"/>
                  <a:pt x="69056" y="0"/>
                  <a:pt x="95324" y="0"/>
                </a:cubicBezTo>
                <a:lnTo>
                  <a:pt x="206573" y="0"/>
                </a:lnTo>
                <a:cubicBezTo>
                  <a:pt x="219224" y="0"/>
                  <a:pt x="231353" y="4986"/>
                  <a:pt x="240283" y="13915"/>
                </a:cubicBezTo>
                <a:lnTo>
                  <a:pt x="319460" y="93241"/>
                </a:lnTo>
                <a:cubicBezTo>
                  <a:pt x="328389" y="102171"/>
                  <a:pt x="333375" y="114300"/>
                  <a:pt x="333375" y="126950"/>
                </a:cubicBezTo>
                <a:lnTo>
                  <a:pt x="333375" y="199504"/>
                </a:lnTo>
                <a:lnTo>
                  <a:pt x="235148" y="297731"/>
                </a:lnTo>
                <a:lnTo>
                  <a:pt x="203820" y="297731"/>
                </a:lnTo>
                <a:lnTo>
                  <a:pt x="191839" y="257845"/>
                </a:lnTo>
                <a:cubicBezTo>
                  <a:pt x="188342" y="246162"/>
                  <a:pt x="177626" y="238199"/>
                  <a:pt x="165422" y="238199"/>
                </a:cubicBezTo>
                <a:cubicBezTo>
                  <a:pt x="157014" y="238199"/>
                  <a:pt x="149126" y="241995"/>
                  <a:pt x="143917" y="248543"/>
                </a:cubicBezTo>
                <a:lnTo>
                  <a:pt x="99194" y="304354"/>
                </a:lnTo>
                <a:cubicBezTo>
                  <a:pt x="93018" y="312018"/>
                  <a:pt x="94283" y="323329"/>
                  <a:pt x="101947" y="329431"/>
                </a:cubicBezTo>
                <a:cubicBezTo>
                  <a:pt x="109612" y="335533"/>
                  <a:pt x="120923" y="334342"/>
                  <a:pt x="127025" y="326603"/>
                </a:cubicBezTo>
                <a:lnTo>
                  <a:pt x="162074" y="282848"/>
                </a:lnTo>
                <a:lnTo>
                  <a:pt x="173385" y="320576"/>
                </a:lnTo>
                <a:cubicBezTo>
                  <a:pt x="175617" y="328166"/>
                  <a:pt x="182612" y="333301"/>
                  <a:pt x="190500" y="333301"/>
                </a:cubicBezTo>
                <a:lnTo>
                  <a:pt x="213940" y="333301"/>
                </a:lnTo>
                <a:cubicBezTo>
                  <a:pt x="213271" y="335607"/>
                  <a:pt x="212675" y="337989"/>
                  <a:pt x="212229" y="340370"/>
                </a:cubicBezTo>
                <a:lnTo>
                  <a:pt x="204118" y="380926"/>
                </a:lnTo>
                <a:lnTo>
                  <a:pt x="95324" y="380926"/>
                </a:lnTo>
                <a:cubicBezTo>
                  <a:pt x="69056" y="380926"/>
                  <a:pt x="47699" y="359569"/>
                  <a:pt x="47699" y="333301"/>
                </a:cubicBezTo>
                <a:lnTo>
                  <a:pt x="47699" y="47551"/>
                </a:lnTo>
                <a:close/>
                <a:moveTo>
                  <a:pt x="202481" y="43532"/>
                </a:moveTo>
                <a:lnTo>
                  <a:pt x="202481" y="113109"/>
                </a:lnTo>
                <a:cubicBezTo>
                  <a:pt x="202481" y="123006"/>
                  <a:pt x="210443" y="130969"/>
                  <a:pt x="220340" y="130969"/>
                </a:cubicBezTo>
                <a:lnTo>
                  <a:pt x="289917" y="130969"/>
                </a:lnTo>
                <a:lnTo>
                  <a:pt x="202481" y="43532"/>
                </a:lnTo>
                <a:close/>
                <a:moveTo>
                  <a:pt x="247278" y="347439"/>
                </a:moveTo>
                <a:cubicBezTo>
                  <a:pt x="249138" y="338212"/>
                  <a:pt x="253678" y="329729"/>
                  <a:pt x="260300" y="323106"/>
                </a:cubicBezTo>
                <a:lnTo>
                  <a:pt x="348779" y="234628"/>
                </a:lnTo>
                <a:lnTo>
                  <a:pt x="408310" y="294159"/>
                </a:lnTo>
                <a:lnTo>
                  <a:pt x="319832" y="382637"/>
                </a:lnTo>
                <a:cubicBezTo>
                  <a:pt x="313209" y="389260"/>
                  <a:pt x="304726" y="393799"/>
                  <a:pt x="295498" y="395660"/>
                </a:cubicBezTo>
                <a:lnTo>
                  <a:pt x="251147" y="404515"/>
                </a:lnTo>
                <a:cubicBezTo>
                  <a:pt x="250478" y="404664"/>
                  <a:pt x="249734" y="404738"/>
                  <a:pt x="248989" y="404738"/>
                </a:cubicBezTo>
                <a:cubicBezTo>
                  <a:pt x="243036" y="404738"/>
                  <a:pt x="238125" y="399901"/>
                  <a:pt x="238125" y="393874"/>
                </a:cubicBezTo>
                <a:cubicBezTo>
                  <a:pt x="238125" y="393129"/>
                  <a:pt x="238199" y="392460"/>
                  <a:pt x="238348" y="391716"/>
                </a:cubicBezTo>
                <a:lnTo>
                  <a:pt x="247204" y="347365"/>
                </a:lnTo>
                <a:close/>
                <a:moveTo>
                  <a:pt x="446559" y="255910"/>
                </a:moveTo>
                <a:lnTo>
                  <a:pt x="425128" y="277341"/>
                </a:lnTo>
                <a:lnTo>
                  <a:pt x="365596" y="217810"/>
                </a:lnTo>
                <a:lnTo>
                  <a:pt x="387028" y="196379"/>
                </a:lnTo>
                <a:cubicBezTo>
                  <a:pt x="403473" y="179933"/>
                  <a:pt x="430113" y="179933"/>
                  <a:pt x="446559" y="196379"/>
                </a:cubicBezTo>
                <a:cubicBezTo>
                  <a:pt x="463004" y="212824"/>
                  <a:pt x="463004" y="239464"/>
                  <a:pt x="446559" y="25591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0" name="Text 7"/>
          <p:cNvSpPr/>
          <p:nvPr/>
        </p:nvSpPr>
        <p:spPr>
          <a:xfrm>
            <a:off x="7232650" y="3124200"/>
            <a:ext cx="3289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D7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Pemenuhan Regulasi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200" y="3683000"/>
            <a:ext cx="508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Monitoring otomatis untuk kepatuhan regulasi.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Hindari denda dan sanksi yang merugikan.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Pastikan pelaporan tepat waktu dan akurat.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1:51-d3ce43os8jdo4os5dc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" y="-79775"/>
            <a:ext cx="12333605" cy="69377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14" y="5009228"/>
            <a:ext cx="2060027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 AI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4593590"/>
            <a:ext cx="309181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Industry 2025: Trends &amp; Audit Roles</dc:title>
  <dc:subject>Hotel Industry 2025: Trends &amp; Audit Roles</dc:subject>
  <dc:creator>Kimi</dc:creator>
  <cp:lastModifiedBy>Kimi</cp:lastModifiedBy>
  <cp:revision>1</cp:revision>
  <dcterms:created xsi:type="dcterms:W3CDTF">2025-11-04T10:52:29Z</dcterms:created>
  <dcterms:modified xsi:type="dcterms:W3CDTF">2025-11-04T10:52:29Z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{"Label":"Hotel Industry 2025: Trends &amp; Audit Roles","ContentProducer":"001191110108MACG2KBH8F10000","ProduceID":"d44tkikn9072mnjvilq0","ReservedCode1":"","ContentPropagator":"001191110108MACG2KBH8F20000","PropagateID":"d44tkikn9072mnjvilq0","ReservedCode2":""}</vt:lpwstr>
  </property>
</Properties>
</file>